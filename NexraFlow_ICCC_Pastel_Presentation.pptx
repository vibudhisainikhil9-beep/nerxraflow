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NEXRAFLOW ICCC // TELANGANA SMART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Autonomous Smart City Traffic &amp; Incident Intelligence SCADA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91840"/>
          </a:xfrm>
          <a:prstGeom prst="roundRect">
            <a:avLst/>
          </a:prstGeom>
          <a:solidFill>
            <a:srgbClr val="FFF5F5"/>
          </a:solidFill>
          <a:ln w="222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Arterial Saturation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Peak Corridor Volume: &gt;3,800 PCU/h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HiTec to Mindspace choke points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Mixed traffic: 45% 2W, 18% Auto-Rickshaw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High susceptibility to gridlock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3291840"/>
          </a:xfrm>
          <a:prstGeom prst="roundRect">
            <a:avLst/>
          </a:prstGeom>
          <a:solidFill>
            <a:srgbClr val="FFFBF5"/>
          </a:solidFill>
          <a:ln w="222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Incident Latency Problem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Conventional Detection: 18.4 mins lag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Manual Phone/Radio Dispatch delays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LWR Shockwave choke forms in 4.2 mins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Upstream spillback paralyzes 5 junctions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F5FFFA"/>
          </a:solidFill>
          <a:ln w="222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NexraFlow SCADA Solution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Real-time Kalman-denoised LWR Kinematics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Level-4 ICCC Cockpit with 3D Spatial Twin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AI Computes 3 Diversion Bypass Routes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1-Click WhatsApp Directive to Traffic ACP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LIVE PRODUCTION DEPLOYMENT ACTIVE: https://nexraflow.vercel.app  (ZERO EXTERNAL PLUGINS)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SYSTEM ARCHITECTURE // TELEMETRY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End-to-End SCADA Pipeline &amp; Telemetry Data Flow</a:t>
            </a:r>
          </a:p>
        </p:txBody>
      </p:sp>
      <p:pic>
        <p:nvPicPr>
          <p:cNvPr id="4" name="Picture 3" descr="architecture_flowchart_pa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STANDARDS COMPLIANCE: Indian Road Congress (IRC:106 PCU equivalency) &amp; NTCIP-1202 Signal Preemption Protocols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MATHEMATICAL FOUNDATION // NEURAX AI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Physics-Informed Kinematics &amp; AI Analytical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1. Kalman Denoising Filter (Q=0.08, R=3.5)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Mathematical Model: x̂_k = x̂_k⁻ + K_k(z_k - Hx̂_k⁻)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Strips sensor noise, GPS dropout &amp; road jitter (&lt;30% tolerance)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Delivers smooth, un-jittered speed to traffic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2. LWR Shockwave Theory (w = Δq / Δk)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Mathematical Model: w = (q_jam - q_free) / (k_jam - k_crit)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Computes backward wave propagation speed in real time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Accurately forecasts exact Choke ETA before queue spillback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3. NeuraX Multi-Output RF Model (R²: 0.86)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Trained on 1.88M observations across 436 road segments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Volume Flow R²: 0.8623 | Speed Velocity R²: 0.8216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Key Features: Capacity, Peak Rush Factor, Diurnal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4. Mendeley Discrete-Event Queuing Model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Trained on 6,000 Rockwell Arena simulation runs (DOI: 10.17632)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Non-linear Kleinrock queuing delay: W_q = λ / (μ(μ - λ))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Models 3-stage bottleneck queue buildup across Cyberabad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SPATIAL RECONSTRUCTION // THREE.JS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3D Spatial Digital Twin with True Z-Axis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Deterministic Skyline &amp; Z-Depth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32 deterministic skyscraper towers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Deep avenues from Z=-340 to +340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Window glow illumination rows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1.5Hz alternating aviation beacons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1,200 stars celestial night sphere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High-sheen reflective asphalt road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Physical Vehicle Micro-Dynamics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48 vehicles obeying IDM car-following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Zero-clipping longitudinal safe gaps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Dynamic brake light illuminations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Realistic lane-change yaw angles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4 Classes: 2W, Auto, Car, TSRTC Bus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Raycaster click-to-inspect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Incident &amp; Landmark Simulation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Cyber Towers 90-unit multi-tower core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20m elevated Mindspace Flyover Viaduct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Durgam Cheruvu Cable Bridge &amp; Pylons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Stalled TSRTC bus with hazard smoke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Monsoon storm rain &amp; flood puddles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6-Stop automated cinematic tour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SOVEREIGN OVERSIGHT WORKFLOW // AI PROPOSES → HUMAN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Human-in-the-Loop: Operator Authorization &amp; Police Dispatch</a:t>
            </a:r>
          </a:p>
        </p:txBody>
      </p:sp>
      <p:pic>
        <p:nvPicPr>
          <p:cNvPr id="4" name="Picture 3" descr="police_workflow_flowchart_pa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532120"/>
            <a:ext cx="10698480" cy="8229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OPERATIONAL ADVANTAGE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Eliminates 15+ minutes of voice radio lag by providing ACP Cyberabad with structured, encrypted WhatsApp deployment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  <a:latin typeface="Inter"/>
              </a:defRPr>
            </a:pPr>
            <a:r>
              <a:t>INFRASTRUCTURE FEASIBILITY // IRC:SP:41 AUDIT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D3748"/>
                </a:solidFill>
                <a:latin typeface="Inter"/>
              </a:defRPr>
            </a:pPr>
            <a:r>
              <a:t>Measurable City Impact, Scalability &amp; Civic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3200400"/>
          </a:xfrm>
          <a:prstGeom prst="roundRect">
            <a:avLst/>
          </a:prstGeom>
          <a:solidFill>
            <a:srgbClr val="F5FFFA"/>
          </a:solidFill>
          <a:ln w="222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Transit Delay Reduction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-34.2% Average Corridor Delay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~18.4 minutes saved per commuter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Rapid bottleneck wave dissipation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Significant fuel &amp; emission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291840" cy="3200400"/>
          </a:xfrm>
          <a:prstGeom prst="roundRect">
            <a:avLst/>
          </a:prstGeom>
          <a:solidFill>
            <a:srgbClr val="F0F9FF"/>
          </a:solidFill>
          <a:ln w="222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108 Green Corridor Preemption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3.05x Faster Emergency Transit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Speed increased from 18 to 55 km/h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NTCIP-1202 Green Wave preemption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Critical life-saving window secured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3200400"/>
          </a:xfrm>
          <a:prstGeom prst="roundRect">
            <a:avLst/>
          </a:prstGeom>
          <a:solidFill>
            <a:srgbClr val="FFFBF5"/>
          </a:solidFill>
          <a:ln w="222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2D3748"/>
                </a:solidFill>
                <a:latin typeface="Inter"/>
              </a:defRPr>
            </a:pPr>
            <a:r>
              <a:t>Civil Capex Payback Period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2.31 Years Capital Payback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Proposed Capex: ₹42.5 Crores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Annual Fuel Savings: ₹18.4 Cr/yr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• Grade-separated slip roads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READY FOR MUNICIPAL DEPLOYMENT // COMPATIBLE WITH ANY SMART CAMERA, RADAR OR SCADA SENSOR VENDOR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